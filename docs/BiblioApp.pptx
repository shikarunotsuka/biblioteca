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5143500" type="screen16x9"/>
  <p:notesSz cx="5143500" cy="9144000"/>
  <p:embeddedFontLst>
    <p:embeddedFont>
      <p:font typeface="Dela Gothic One" panose="020B0604020202020204" charset="-128"/>
      <p:regular r:id="rId9"/>
    </p:embeddedFont>
    <p:embeddedFont>
      <p:font typeface="DM Sans" pitchFamily="2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D0C0C"/>
    <a:srgbClr val="0F0F0F"/>
    <a:srgbClr val="2B2727"/>
    <a:srgbClr val="121212"/>
    <a:srgbClr val="141313"/>
    <a:srgbClr val="111111"/>
    <a:srgbClr val="140E0E"/>
    <a:srgbClr val="120A0A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E76CF-6161-43A9-A8E4-29980143C829}" v="9" dt="2026-06-17T03:45:10.749"/>
    <p1510:client id="{7B8A9CF4-9BC4-4711-A8EC-B5CA5EBB3968}" v="178" dt="2026-06-15T22:54:17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7T03:44:35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26458 11615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7T03:44:3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28337 3810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7T03:44:3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25850 3784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7T03:44:35.8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4293 1395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2D56D-05FC-4E41-9688-6892814C5C20}" type="datetimeFigureOut">
              <a:t>16/06/2026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34E32-8BBA-44F8-81F5-2525580F28F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006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customXml" Target="../ink/ink3.xml"/><Relationship Id="rId10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73943" y="1060400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AEBEB"/>
                </a:solidFill>
                <a:latin typeface="Dela Gothic One"/>
                <a:ea typeface="Dela Gothic One"/>
              </a:rPr>
              <a:t>BiblioApp</a:t>
            </a:r>
          </a:p>
          <a:p>
            <a:pPr>
              <a:lnSpc>
                <a:spcPct val="104000"/>
              </a:lnSpc>
            </a:pPr>
            <a:endParaRPr lang="en-US" sz="2800" dirty="0">
              <a:solidFill>
                <a:srgbClr val="FAEBEB"/>
              </a:solidFill>
              <a:latin typeface="Dela Gothic One"/>
              <a:ea typeface="Dela Gothic One"/>
            </a:endParaRPr>
          </a:p>
          <a:p>
            <a:pPr>
              <a:lnSpc>
                <a:spcPct val="104000"/>
              </a:lnSpc>
            </a:pPr>
            <a:endParaRPr lang="en-US" sz="2800" dirty="0">
              <a:solidFill>
                <a:srgbClr val="FAEBEB"/>
              </a:solidFill>
              <a:latin typeface="Dela Gothic One"/>
              <a:ea typeface="Dela Gothic One"/>
            </a:endParaRPr>
          </a:p>
          <a:p>
            <a:pPr>
              <a:lnSpc>
                <a:spcPct val="104000"/>
              </a:lnSpc>
            </a:pPr>
            <a:endParaRPr lang="en-US" sz="2800" dirty="0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3943" y="1509765"/>
            <a:ext cx="4767114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5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Buscador</a:t>
            </a:r>
            <a:r>
              <a:rPr lang="en-US" sz="15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de </a:t>
            </a:r>
            <a:r>
              <a:rPr lang="en-US" sz="15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libros</a:t>
            </a:r>
            <a:endParaRPr lang="en-US" sz="1500">
              <a:solidFill>
                <a:srgbClr val="FAEBEB"/>
              </a:solidFill>
              <a:latin typeface="Dela Gothic One"/>
              <a:ea typeface="Dela Gothic One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3160" y="2415372"/>
            <a:ext cx="4767114" cy="961281"/>
          </a:xfrm>
          <a:prstGeom prst="roundRect">
            <a:avLst>
              <a:gd name="adj" fmla="val 5916"/>
            </a:avLst>
          </a:prstGeom>
          <a:solidFill>
            <a:srgbClr val="701515"/>
          </a:solidFill>
          <a:ln/>
        </p:spPr>
      </p:sp>
      <p:sp>
        <p:nvSpPr>
          <p:cNvPr id="7" name="Text 4"/>
          <p:cNvSpPr/>
          <p:nvPr/>
        </p:nvSpPr>
        <p:spPr>
          <a:xfrm>
            <a:off x="646472" y="2551088"/>
            <a:ext cx="458380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Aplicación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móvil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eficiente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, con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persistencia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 offline y un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ciclo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vida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seguro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Manteniendo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los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prinicipios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calidad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y la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experiencia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usuario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.</a:t>
            </a:r>
            <a:endParaRPr lang="en-US" sz="1200">
              <a:latin typeface="DM Sans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95A993D-006B-771A-106B-D3941153E58A}"/>
              </a:ext>
            </a:extLst>
          </p:cNvPr>
          <p:cNvSpPr/>
          <p:nvPr/>
        </p:nvSpPr>
        <p:spPr>
          <a:xfrm>
            <a:off x="463160" y="4593541"/>
            <a:ext cx="3861340" cy="249602"/>
          </a:xfrm>
          <a:prstGeom prst="roundRect">
            <a:avLst>
              <a:gd name="adj" fmla="val 5916"/>
            </a:avLst>
          </a:prstGeom>
          <a:solidFill>
            <a:srgbClr val="701515"/>
          </a:solidFill>
          <a:ln/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3D1CAB-65D7-6A8C-A55B-C2E8D9ACEAF9}"/>
              </a:ext>
            </a:extLst>
          </p:cNvPr>
          <p:cNvSpPr txBox="1"/>
          <p:nvPr/>
        </p:nvSpPr>
        <p:spPr>
          <a:xfrm>
            <a:off x="474453" y="4577392"/>
            <a:ext cx="429164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 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Integrantes</a:t>
            </a:r>
            <a:r>
              <a:rPr lang="en-US" sz="1200" b="1" dirty="0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: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  Nahuel </a:t>
            </a:r>
            <a:r>
              <a:rPr lang="en-US" sz="1200" dirty="0" err="1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Leguisamon</a:t>
            </a:r>
            <a:r>
              <a:rPr lang="en-US" sz="1200" dirty="0">
                <a:solidFill>
                  <a:srgbClr val="FFE5E5"/>
                </a:solidFill>
                <a:latin typeface="DM Sans"/>
                <a:ea typeface="Calibri"/>
                <a:cs typeface="Calibri"/>
              </a:rPr>
              <a:t> y Mateo Sparano</a:t>
            </a:r>
            <a:endParaRPr lang="es-ES" sz="1200">
              <a:latin typeface="DM Sans"/>
              <a:ea typeface="Calibri"/>
              <a:cs typeface="Calibri"/>
            </a:endParaRPr>
          </a:p>
          <a:p>
            <a:pPr algn="ctr"/>
            <a:endParaRPr lang="es-ES" dirty="0">
              <a:ea typeface="Calibri"/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4F6570F-BD6B-3D20-AA0D-6AD46049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174" y="0"/>
            <a:ext cx="34561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3943" y="754112"/>
            <a:ext cx="4479950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¿Qué es BiblioApp?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73943" y="1245022"/>
            <a:ext cx="7139434" cy="350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Propósito y Funcionalidades Principales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3943" y="1792486"/>
            <a:ext cx="819611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BiblioApp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es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una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aplicación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móvil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diseñada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facilitar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el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acceso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y la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busqueda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libros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, con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guardado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favoritos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buena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experiencia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lectores</a:t>
            </a:r>
            <a:endParaRPr lang="en-US" sz="1000" dirty="0" err="1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3943" y="2363167"/>
            <a:ext cx="2644527" cy="1729176"/>
          </a:xfrm>
          <a:prstGeom prst="roundRect">
            <a:avLst>
              <a:gd name="adj" fmla="val 36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1981" y="2501205"/>
            <a:ext cx="399827" cy="399827"/>
          </a:xfrm>
          <a:prstGeom prst="roundRect">
            <a:avLst>
              <a:gd name="adj" fmla="val 14292253"/>
            </a:avLst>
          </a:prstGeom>
          <a:solidFill>
            <a:srgbClr val="C9131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891" y="2611115"/>
            <a:ext cx="179933" cy="1799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1981" y="3032224"/>
            <a:ext cx="1807220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Búsqueda Rápida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249662" y="2363167"/>
            <a:ext cx="2644601" cy="1729176"/>
          </a:xfrm>
          <a:prstGeom prst="roundRect">
            <a:avLst>
              <a:gd name="adj" fmla="val 36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7700" y="2501205"/>
            <a:ext cx="399827" cy="399827"/>
          </a:xfrm>
          <a:prstGeom prst="roundRect">
            <a:avLst>
              <a:gd name="adj" fmla="val 14292253"/>
            </a:avLst>
          </a:prstGeom>
          <a:solidFill>
            <a:srgbClr val="C9131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7610" y="2611115"/>
            <a:ext cx="179933" cy="17993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7700" y="3032224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Favoritos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387700" y="3330104"/>
            <a:ext cx="2368525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Gestión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directa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la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lista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libros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elegidos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.</a:t>
            </a:r>
            <a:endParaRPr lang="es-ES" sz="1000" dirty="0">
              <a:solidFill>
                <a:srgbClr val="000000"/>
              </a:solidFill>
              <a:latin typeface="DM Sans"/>
              <a:ea typeface="+mn-lt"/>
              <a:cs typeface="+mn-lt"/>
            </a:endParaRPr>
          </a:p>
          <a:p>
            <a:pPr>
              <a:lnSpc>
                <a:spcPct val="132000"/>
              </a:lnSpc>
            </a:pPr>
            <a:endParaRPr lang="es-ES" sz="1000">
              <a:solidFill>
                <a:srgbClr val="000000"/>
              </a:solidFill>
              <a:latin typeface="DM Sans"/>
              <a:ea typeface="+mn-lt"/>
              <a:cs typeface="+mn-lt"/>
            </a:endParaRPr>
          </a:p>
          <a:p>
            <a:pPr>
              <a:lnSpc>
                <a:spcPct val="132000"/>
              </a:lnSpc>
            </a:pPr>
            <a:endParaRPr lang="en-US" sz="1000" dirty="0">
              <a:solidFill>
                <a:srgbClr val="FFE5E5"/>
              </a:solidFill>
              <a:ea typeface="+mn-lt"/>
              <a:cs typeface="+mn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25455" y="2363167"/>
            <a:ext cx="2745456" cy="1729176"/>
          </a:xfrm>
          <a:prstGeom prst="roundRect">
            <a:avLst>
              <a:gd name="adj" fmla="val 36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63494" y="2501205"/>
            <a:ext cx="399827" cy="399827"/>
          </a:xfrm>
          <a:prstGeom prst="roundRect">
            <a:avLst>
              <a:gd name="adj" fmla="val 14292253"/>
            </a:avLst>
          </a:prstGeom>
          <a:solidFill>
            <a:srgbClr val="C9131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3403" y="2611115"/>
            <a:ext cx="179933" cy="17993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6525" y="3004346"/>
            <a:ext cx="1834753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 err="1">
                <a:solidFill>
                  <a:srgbClr val="FFE5E5"/>
                </a:solidFill>
                <a:latin typeface="Dela Gothic One"/>
                <a:ea typeface="Dela Gothic One"/>
              </a:rPr>
              <a:t>Configuración</a:t>
            </a:r>
            <a:r>
              <a:rPr lang="en-US" sz="1350" dirty="0">
                <a:solidFill>
                  <a:srgbClr val="FFE5E5"/>
                </a:solidFill>
                <a:latin typeface="Dela Gothic One"/>
                <a:ea typeface="Dela Gothic One"/>
              </a:rPr>
              <a:t> y </a:t>
            </a:r>
            <a:r>
              <a:rPr lang="en-US" sz="1350" dirty="0" err="1">
                <a:solidFill>
                  <a:srgbClr val="FFE5E5"/>
                </a:solidFill>
                <a:latin typeface="Dela Gothic One"/>
                <a:ea typeface="Dela Gothic One"/>
              </a:rPr>
              <a:t>Interfaz</a:t>
            </a:r>
            <a:endParaRPr lang="es-ES" dirty="0" err="1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AC5EB3F6-4DCE-83B1-54B0-89D8AC45C06F}"/>
              </a:ext>
            </a:extLst>
          </p:cNvPr>
          <p:cNvSpPr/>
          <p:nvPr/>
        </p:nvSpPr>
        <p:spPr>
          <a:xfrm>
            <a:off x="6159474" y="3330104"/>
            <a:ext cx="2368525" cy="56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2000"/>
              </a:lnSpc>
            </a:pP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Navegación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simple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que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conecta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al lector con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su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libro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 al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instante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, con la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opción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cambiar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a modo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oscuro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.</a:t>
            </a:r>
            <a:endParaRPr lang="en-US" sz="1000" dirty="0">
              <a:solidFill>
                <a:srgbClr val="FFE5E5"/>
              </a:solidFill>
              <a:ea typeface="+mn-lt"/>
              <a:cs typeface="+mn-lt"/>
            </a:endParaRPr>
          </a:p>
          <a:p>
            <a:pPr>
              <a:lnSpc>
                <a:spcPct val="132000"/>
              </a:lnSpc>
            </a:pPr>
            <a:endParaRPr lang="en-US" sz="1000" dirty="0">
              <a:solidFill>
                <a:srgbClr val="FFE5E5"/>
              </a:solidFill>
              <a:ea typeface="+mn-lt"/>
              <a:cs typeface="+mn-lt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ED2FBCE0-62B9-831F-B622-76285BB75AF2}"/>
              </a:ext>
            </a:extLst>
          </p:cNvPr>
          <p:cNvSpPr/>
          <p:nvPr/>
        </p:nvSpPr>
        <p:spPr>
          <a:xfrm>
            <a:off x="-4212" y="4875862"/>
            <a:ext cx="9144387" cy="26423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868FEF96-29BD-0AE0-43CD-6E0B4C740D61}"/>
              </a:ext>
            </a:extLst>
          </p:cNvPr>
          <p:cNvSpPr/>
          <p:nvPr/>
        </p:nvSpPr>
        <p:spPr>
          <a:xfrm>
            <a:off x="613833" y="3330103"/>
            <a:ext cx="2445189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Encuentra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titulos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y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autores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forma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rapida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mostrando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libros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relacionados</a:t>
            </a:r>
            <a:r>
              <a:rPr lang="en-US" sz="10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.</a:t>
            </a:r>
          </a:p>
          <a:p>
            <a:pPr>
              <a:lnSpc>
                <a:spcPct val="132000"/>
              </a:lnSpc>
            </a:pPr>
            <a:endParaRPr lang="es-ES" sz="1000">
              <a:solidFill>
                <a:srgbClr val="000000"/>
              </a:solidFill>
              <a:latin typeface="DM Sans"/>
              <a:ea typeface="+mn-lt"/>
              <a:cs typeface="+mn-lt"/>
            </a:endParaRPr>
          </a:p>
          <a:p>
            <a:pPr>
              <a:lnSpc>
                <a:spcPct val="132000"/>
              </a:lnSpc>
            </a:pPr>
            <a:endParaRPr lang="en-US" sz="1000" dirty="0">
              <a:solidFill>
                <a:srgbClr val="FFE5E5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1DA4ABE2-68C5-D34F-3F31-31D7D43D84C2}"/>
              </a:ext>
            </a:extLst>
          </p:cNvPr>
          <p:cNvSpPr/>
          <p:nvPr/>
        </p:nvSpPr>
        <p:spPr>
          <a:xfrm>
            <a:off x="948439" y="633413"/>
            <a:ext cx="5791232" cy="39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00">
                <a:solidFill>
                  <a:srgbClr val="FAEBEB"/>
                </a:solidFill>
                <a:latin typeface="Dela Gothic One"/>
                <a:ea typeface="Dela Gothic One"/>
              </a:rPr>
              <a:t>Mockups de UI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AF5396DA-13F1-0495-EA89-F5A6A128190A}"/>
                  </a:ext>
                </a:extLst>
              </p14:cNvPr>
              <p14:cNvContentPartPr/>
              <p14:nvPr/>
            </p14:nvContentPartPr>
            <p14:xfrm>
              <a:off x="8470171" y="3083517"/>
              <a:ext cx="9686" cy="9686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AF5396DA-13F1-0495-EA89-F5A6A12819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5871" y="2599217"/>
                <a:ext cx="968600" cy="9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3D4E825C-E989-55A6-0928-19ECE018999B}"/>
                  </a:ext>
                </a:extLst>
              </p14:cNvPr>
              <p14:cNvContentPartPr/>
              <p14:nvPr/>
            </p14:nvContentPartPr>
            <p14:xfrm>
              <a:off x="8309116" y="928976"/>
              <a:ext cx="5013" cy="5013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3D4E825C-E989-55A6-0928-19ECE01899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8466" y="678326"/>
                <a:ext cx="501300" cy="501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2CAFDE8-51F3-527C-B509-C81586A83DE0}"/>
                  </a:ext>
                </a:extLst>
              </p14:cNvPr>
              <p14:cNvContentPartPr/>
              <p14:nvPr/>
            </p14:nvContentPartPr>
            <p14:xfrm>
              <a:off x="8258174" y="1000124"/>
              <a:ext cx="9525" cy="9525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2CAFDE8-51F3-527C-B509-C81586A83D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91449" y="533399"/>
                <a:ext cx="952500" cy="95250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Imagen 3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5DD5560-69EC-874C-12D0-4324B49D7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256" y="1344613"/>
            <a:ext cx="3686175" cy="2819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C0543969-93D6-98F0-C095-E582B6C4B668}"/>
                  </a:ext>
                </a:extLst>
              </p14:cNvPr>
              <p14:cNvContentPartPr/>
              <p14:nvPr/>
            </p14:nvContentPartPr>
            <p14:xfrm>
              <a:off x="497801" y="140372"/>
              <a:ext cx="9525" cy="9525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C0543969-93D6-98F0-C095-E582B6C4B6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51" y="-335878"/>
                <a:ext cx="952500" cy="9525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Shape 5">
            <a:extLst>
              <a:ext uri="{FF2B5EF4-FFF2-40B4-BE49-F238E27FC236}">
                <a16:creationId xmlns:a16="http://schemas.microsoft.com/office/drawing/2014/main" id="{5F68C7D4-CC23-1CFB-6F28-5320BED39EFF}"/>
              </a:ext>
            </a:extLst>
          </p:cNvPr>
          <p:cNvSpPr/>
          <p:nvPr/>
        </p:nvSpPr>
        <p:spPr>
          <a:xfrm>
            <a:off x="-4212" y="4875862"/>
            <a:ext cx="9144387" cy="26423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  <p:pic>
        <p:nvPicPr>
          <p:cNvPr id="41" name="Imagen 4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5E98150-233C-4C98-867C-25AE96D99E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69" y="1495425"/>
            <a:ext cx="3810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6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82676" y="562124"/>
            <a:ext cx="4129906" cy="24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Arquitectura y Gestión de Datos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82676" y="821829"/>
            <a:ext cx="395875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 err="1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Flujo</a:t>
            </a:r>
            <a:r>
              <a:rPr lang="en-US" sz="1200" dirty="0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 de </a:t>
            </a:r>
            <a:r>
              <a:rPr lang="en-US" sz="1200" dirty="0" err="1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Información</a:t>
            </a:r>
            <a:r>
              <a:rPr lang="en-US" sz="1200" dirty="0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 y </a:t>
            </a:r>
            <a:r>
              <a:rPr lang="en-US" sz="1200" dirty="0" err="1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Persistencia</a:t>
            </a:r>
            <a:r>
              <a:rPr lang="en-US" sz="1200" dirty="0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 Offline</a:t>
            </a:r>
            <a:endParaRPr lang="en-US" sz="1200" dirty="0">
              <a:latin typeface="Dela Gothic One"/>
              <a:ea typeface="Dela Gothic One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82676" y="2284958"/>
            <a:ext cx="2598986" cy="27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3000"/>
              </a:lnSpc>
            </a:pPr>
            <a:r>
              <a:rPr lang="en-US" sz="8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a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arquitectura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BiblioApp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integra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tres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componentes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clave para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garantizar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rendimiento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escalabilidad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y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disponibilidad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offline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en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todo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8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momento</a:t>
            </a:r>
            <a:r>
              <a:rPr lang="en-US" sz="8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.</a:t>
            </a:r>
            <a:endParaRPr lang="en-US" sz="800">
              <a:latin typeface="DM Sans"/>
              <a:ea typeface="+mn-lt"/>
              <a:cs typeface="+mn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101" y="1122908"/>
            <a:ext cx="2598986" cy="259898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4934" y="3812977"/>
            <a:ext cx="1763588" cy="576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4818" y="3896544"/>
            <a:ext cx="97437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MVVM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994818" y="4101462"/>
            <a:ext cx="1570137" cy="18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Patrón que mantiene el proyecto ordenado, modular y fácilmente escalable.</a:t>
            </a:r>
            <a:endParaRPr lang="en-US" sz="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128" y="3812977"/>
            <a:ext cx="1810795" cy="576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686" y="3896544"/>
            <a:ext cx="1635793" cy="243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Retrofit + Google Books API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777578" y="4099476"/>
            <a:ext cx="1570211" cy="18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HTTP que conecta en tiempo real con el catálogo global de Google Books.</a:t>
            </a:r>
            <a:endParaRPr lang="en-US" sz="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0529" y="3812977"/>
            <a:ext cx="1816686" cy="576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83979" y="3896544"/>
            <a:ext cx="97437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Room Database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5583979" y="4101462"/>
            <a:ext cx="1570211" cy="18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 local que almacena libros en el dispositivo, garantizando acceso sin internet.</a:t>
            </a:r>
            <a:endParaRPr lang="en-US" sz="5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93079E2-84BF-7044-DCB2-6608DFABAE47}"/>
              </a:ext>
            </a:extLst>
          </p:cNvPr>
          <p:cNvSpPr/>
          <p:nvPr/>
        </p:nvSpPr>
        <p:spPr>
          <a:xfrm>
            <a:off x="-4212" y="4875862"/>
            <a:ext cx="9144387" cy="26423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48439" y="633413"/>
            <a:ext cx="5791232" cy="39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Componentes Nativos de Android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48439" y="1008750"/>
            <a:ext cx="6080406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</a:rPr>
              <a:t>Co</a:t>
            </a:r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municación</a:t>
            </a:r>
            <a:r>
              <a:rPr lang="en-US" sz="14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de </a:t>
            </a:r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los</a:t>
            </a:r>
            <a:r>
              <a:rPr lang="en-US" sz="14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</a:t>
            </a:r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datos</a:t>
            </a:r>
            <a:r>
              <a:rPr lang="en-US" sz="14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y </a:t>
            </a:r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eventos</a:t>
            </a:r>
            <a:r>
              <a:rPr lang="en-US" sz="14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del </a:t>
            </a:r>
            <a:r>
              <a:rPr lang="en-US" sz="1400" dirty="0" err="1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sistema</a:t>
            </a:r>
            <a:r>
              <a:rPr lang="en-US" sz="1400" dirty="0">
                <a:solidFill>
                  <a:srgbClr val="FAEBEB"/>
                </a:solidFill>
                <a:latin typeface="Dela Gothic One"/>
                <a:ea typeface="Dela Gothic One"/>
                <a:cs typeface="+mn-lt"/>
              </a:rPr>
              <a:t> </a:t>
            </a:r>
            <a:endParaRPr lang="es-ES">
              <a:latin typeface="Dela Gothic One"/>
              <a:ea typeface="Dela Gothic One"/>
            </a:endParaRPr>
          </a:p>
          <a:p>
            <a:endParaRPr lang="en-US"/>
          </a:p>
          <a:p>
            <a:pPr>
              <a:lnSpc>
                <a:spcPct val="104000"/>
              </a:lnSpc>
            </a:pPr>
            <a:endParaRPr lang="en-US"/>
          </a:p>
          <a:p>
            <a:pPr>
              <a:lnSpc>
                <a:spcPct val="104000"/>
              </a:lnSpc>
            </a:pPr>
            <a:endParaRPr lang="en-US" sz="1650" dirty="0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3625" y="1503984"/>
            <a:ext cx="2420615" cy="141223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3114" y="2030083"/>
            <a:ext cx="152326" cy="1523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40897" y="1582296"/>
            <a:ext cx="1366986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/>
                <a:ea typeface="Dela Gothic One"/>
                <a:cs typeface="Dela Gothic One" pitchFamily="34" charset="-120"/>
              </a:rPr>
              <a:t>Content Provider</a:t>
            </a:r>
            <a:endParaRPr lang="en-US" sz="1100">
              <a:latin typeface="Dela Gothic One"/>
              <a:ea typeface="Dela Gothic One"/>
              <a:cs typeface="Calibri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340897" y="1866845"/>
            <a:ext cx="1808187" cy="71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Implementado para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estructurar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forma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limpia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segura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el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acceso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interno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los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datos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la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biblioteca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protegiendo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la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integridad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la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información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.</a:t>
            </a:r>
            <a:endParaRPr lang="en-US" sz="900">
              <a:latin typeface="DM Sans"/>
              <a:ea typeface="Calibri"/>
              <a:cs typeface="Calibri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3626" y="3098756"/>
            <a:ext cx="2420615" cy="140488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2483" y="3438013"/>
            <a:ext cx="152326" cy="1523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50266" y="3192979"/>
            <a:ext cx="1574825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/>
                <a:ea typeface="Dela Gothic One"/>
                <a:cs typeface="Dela Gothic One" pitchFamily="34" charset="-120"/>
              </a:rPr>
              <a:t>Broadcast Receiver</a:t>
            </a:r>
            <a:endParaRPr lang="en-US" sz="1100">
              <a:latin typeface="Dela Gothic One"/>
              <a:ea typeface="Dela Gothic One"/>
              <a:cs typeface="Calibri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340898" y="3468513"/>
            <a:ext cx="1855030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Componente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que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escucha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eventos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sistema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automáticamente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. Su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uso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práctico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: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detecta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cuando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el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dispositivo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recupera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conexión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</a:t>
            </a:r>
            <a:r>
              <a:rPr lang="en-US" sz="90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internet </a:t>
            </a:r>
          </a:p>
          <a:p>
            <a:pPr>
              <a:lnSpc>
                <a:spcPct val="117000"/>
              </a:lnSpc>
            </a:pPr>
            <a:endParaRPr lang="en-US" sz="800" dirty="0">
              <a:solidFill>
                <a:srgbClr val="FFE5E5"/>
              </a:solidFill>
              <a:latin typeface="DM Sans"/>
              <a:ea typeface="Calibri"/>
              <a:cs typeface="Calibri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D2E09D9-D485-4BA1-A0DF-B709907B523A}"/>
              </a:ext>
            </a:extLst>
          </p:cNvPr>
          <p:cNvSpPr/>
          <p:nvPr/>
        </p:nvSpPr>
        <p:spPr>
          <a:xfrm>
            <a:off x="-4212" y="4875862"/>
            <a:ext cx="9144387" cy="26423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45A9F94-43FE-E94F-3E2E-E8C47BC61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03" y="1752600"/>
            <a:ext cx="4035855" cy="2438400"/>
          </a:xfrm>
          <a:prstGeom prst="rect">
            <a:avLst/>
          </a:prstGeom>
        </p:spPr>
      </p:pic>
      <p:sp>
        <p:nvSpPr>
          <p:cNvPr id="17" name="Shape 5">
            <a:extLst>
              <a:ext uri="{FF2B5EF4-FFF2-40B4-BE49-F238E27FC236}">
                <a16:creationId xmlns:a16="http://schemas.microsoft.com/office/drawing/2014/main" id="{09E087EE-0E0D-4260-D73B-B49FFBD5530C}"/>
              </a:ext>
            </a:extLst>
          </p:cNvPr>
          <p:cNvSpPr/>
          <p:nvPr/>
        </p:nvSpPr>
        <p:spPr>
          <a:xfrm>
            <a:off x="4590647" y="3839541"/>
            <a:ext cx="632847" cy="34805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3943" y="673447"/>
            <a:ext cx="6069583" cy="41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Automatización y Seguridad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3943" y="1138535"/>
            <a:ext cx="5459611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AEBEB"/>
                </a:solidFill>
                <a:latin typeface="Dela Gothic One"/>
                <a:ea typeface="Dela Gothic One"/>
                <a:cs typeface="Dela Gothic One" pitchFamily="34" charset="-120"/>
              </a:rPr>
              <a:t>Control de Calidad con Fastlane</a:t>
            </a:r>
            <a:endParaRPr lang="en-US">
              <a:latin typeface="Dela Gothic One"/>
              <a:ea typeface="Dela Gothic One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3943" y="1598257"/>
            <a:ext cx="819611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Utilización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Fastlane para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automatizar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todo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el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proceso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compilación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y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eliminar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cualquier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error manual. De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esta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forma, antes de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generar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el APK final,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hacemos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que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la app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pase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sí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o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sí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por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estos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filtros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obligatorios</a:t>
            </a:r>
            <a:r>
              <a:rPr lang="en-US" sz="110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:</a:t>
            </a:r>
            <a:endParaRPr lang="es-ES" sz="1100">
              <a:latin typeface="DM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418" y="2302371"/>
            <a:ext cx="2652713" cy="1827361"/>
          </a:xfrm>
          <a:prstGeom prst="roundRect">
            <a:avLst>
              <a:gd name="adj" fmla="val 32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6131" y="2434084"/>
            <a:ext cx="380851" cy="380851"/>
          </a:xfrm>
          <a:prstGeom prst="roundRect">
            <a:avLst>
              <a:gd name="adj" fmla="val 15004368"/>
            </a:avLst>
          </a:prstGeom>
          <a:solidFill>
            <a:srgbClr val="C9131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832" y="2538785"/>
            <a:ext cx="171376" cy="1713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6131" y="2933923"/>
            <a:ext cx="192189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SAST — SonarQube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6131" y="3214092"/>
            <a:ext cx="2389287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Escaneo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estático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código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fuente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línea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por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línea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detectar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fallos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la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logica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 de la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DM Sans" pitchFamily="34" charset="-122"/>
                <a:cs typeface="DM Sans" pitchFamily="34" charset="-120"/>
              </a:rPr>
              <a:t>aplicacion</a:t>
            </a:r>
            <a:endParaRPr lang="es-ES"/>
          </a:p>
          <a:p>
            <a:pPr>
              <a:lnSpc>
                <a:spcPct val="129000"/>
              </a:lnSpc>
            </a:pPr>
            <a:endParaRPr lang="en-US" sz="950" dirty="0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12836" y="2302371"/>
            <a:ext cx="2718329" cy="1827361"/>
          </a:xfrm>
          <a:prstGeom prst="roundRect">
            <a:avLst>
              <a:gd name="adj" fmla="val 32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7832" y="2434084"/>
            <a:ext cx="380851" cy="380851"/>
          </a:xfrm>
          <a:prstGeom prst="roundRect">
            <a:avLst>
              <a:gd name="adj" fmla="val 15004368"/>
            </a:avLst>
          </a:prstGeom>
          <a:solidFill>
            <a:srgbClr val="C9131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2532" y="2538785"/>
            <a:ext cx="171376" cy="1713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7832" y="2933923"/>
            <a:ext cx="188483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Dependency Check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67832" y="3214092"/>
            <a:ext cx="2389287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Revisión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automática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las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librerías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externas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para encontrar y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bloquear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problemas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seguridad</a:t>
            </a:r>
            <a:r>
              <a:rPr lang="en-US" sz="950" dirty="0">
                <a:solidFill>
                  <a:srgbClr val="FFE5E5"/>
                </a:solidFill>
                <a:latin typeface="DM Sans"/>
                <a:ea typeface="+mn-lt"/>
                <a:cs typeface="+mn-lt"/>
              </a:rPr>
              <a:t>.</a:t>
            </a:r>
            <a:endParaRPr lang="es-ES" sz="950">
              <a:latin typeface="DM Sans"/>
              <a:ea typeface="+mn-lt"/>
              <a:cs typeface="+mn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17344" y="2302371"/>
            <a:ext cx="2652713" cy="1827361"/>
          </a:xfrm>
          <a:prstGeom prst="roundRect">
            <a:avLst>
              <a:gd name="adj" fmla="val 3264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39532" y="2434084"/>
            <a:ext cx="380851" cy="380851"/>
          </a:xfrm>
          <a:prstGeom prst="roundRect">
            <a:avLst>
              <a:gd name="adj" fmla="val 15004368"/>
            </a:avLst>
          </a:prstGeom>
          <a:solidFill>
            <a:srgbClr val="C9131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4233" y="2538785"/>
            <a:ext cx="171376" cy="1713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39532" y="2933923"/>
            <a:ext cx="1678930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Regla de Bloqueo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39532" y="3214092"/>
            <a:ext cx="2389287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cualquiera de las herramientas detecta un riesgo crítico, el proceso se detiene y no se genera el APK.</a:t>
            </a:r>
            <a:endParaRPr lang="en-US" sz="95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1506032D-01F1-25FE-97C7-95E8854101D6}"/>
              </a:ext>
            </a:extLst>
          </p:cNvPr>
          <p:cNvSpPr/>
          <p:nvPr/>
        </p:nvSpPr>
        <p:spPr>
          <a:xfrm>
            <a:off x="-4212" y="4875862"/>
            <a:ext cx="9144387" cy="264231"/>
          </a:xfrm>
          <a:prstGeom prst="roundRect">
            <a:avLst>
              <a:gd name="adj" fmla="val 3664"/>
            </a:avLst>
          </a:prstGeom>
          <a:solidFill>
            <a:schemeClr val="tx1"/>
          </a:solidFill>
          <a:ln w="4763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6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547</cp:revision>
  <dcterms:created xsi:type="dcterms:W3CDTF">2026-06-14T03:27:15Z</dcterms:created>
  <dcterms:modified xsi:type="dcterms:W3CDTF">2026-06-17T03:51:02Z</dcterms:modified>
</cp:coreProperties>
</file>